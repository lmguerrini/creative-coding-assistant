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ba1028e2b540ba" /><Relationship Type="http://schemas.openxmlformats.org/officeDocument/2006/relationships/extended-properties" Target="/docProps/app.xml" Id="R6623384aea1f4810" /><Relationship Type="http://schemas.openxmlformats.org/officeDocument/2006/relationships/officeDocument" Target="/ppt/presentation.xml" Id="Rd2bd836647484a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e3c13820d748ec"/>
  </p:sldMasterIdLst>
  <p:notesMasterIdLst>
    <p:notesMasterId xmlns:r="http://schemas.openxmlformats.org/officeDocument/2006/relationships" r:id="Rca74db7ab16949a8"/>
  </p:notesMasterIdLst>
  <p:sldIdLst>
    <p:sldId xmlns:r="http://schemas.openxmlformats.org/officeDocument/2006/relationships" id="256" r:id="Rc8e6f40f05bf42e5"/>
    <p:sldId xmlns:r="http://schemas.openxmlformats.org/officeDocument/2006/relationships" id="257" r:id="Rd62c921c41f14ebd"/>
    <p:sldId xmlns:r="http://schemas.openxmlformats.org/officeDocument/2006/relationships" id="258" r:id="R95526b77839a4ac7"/>
    <p:sldId xmlns:r="http://schemas.openxmlformats.org/officeDocument/2006/relationships" id="259" r:id="R11f342e219b045aa"/>
    <p:sldId xmlns:r="http://schemas.openxmlformats.org/officeDocument/2006/relationships" id="260" r:id="R16bf3c4eb47f4857"/>
    <p:sldId xmlns:r="http://schemas.openxmlformats.org/officeDocument/2006/relationships" id="261" r:id="R0efb69c44ed3408c"/>
    <p:sldId xmlns:r="http://schemas.openxmlformats.org/officeDocument/2006/relationships" id="262" r:id="Rd9fd8c31a0b94113"/>
    <p:sldId xmlns:r="http://schemas.openxmlformats.org/officeDocument/2006/relationships" id="263" r:id="Rd17919ea46d845dc"/>
    <p:sldId xmlns:r="http://schemas.openxmlformats.org/officeDocument/2006/relationships" id="264" r:id="Rd50032dee67649b6"/>
    <p:sldId xmlns:r="http://schemas.openxmlformats.org/officeDocument/2006/relationships" id="265" r:id="Rdcc19b57892f49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032f0f777e4fdb" /><Relationship Type="http://schemas.openxmlformats.org/officeDocument/2006/relationships/slideMaster" Target="/ppt/slideMasters/slideMaster1.xml" Id="Rffe3c13820d748ec" /><Relationship Type="http://schemas.openxmlformats.org/officeDocument/2006/relationships/notesMaster" Target="/ppt/notesMasters/notesMaster1.xml" Id="Rca74db7ab16949a8" /><Relationship Type="http://schemas.openxmlformats.org/officeDocument/2006/relationships/presProps" Target="/ppt/presProps.xml" Id="R0ce84459b42c415f" /><Relationship Type="http://schemas.openxmlformats.org/officeDocument/2006/relationships/tableStyles" Target="/ppt/tableStyles.xml" Id="R6c3629e8a88f4aa0" /><Relationship Type="http://schemas.openxmlformats.org/officeDocument/2006/relationships/slide" Target="/ppt/slides/slide1.xml" Id="Rc8e6f40f05bf42e5" /><Relationship Type="http://schemas.openxmlformats.org/officeDocument/2006/relationships/slide" Target="/ppt/slides/slide2.xml" Id="Rd62c921c41f14ebd" /><Relationship Type="http://schemas.openxmlformats.org/officeDocument/2006/relationships/slide" Target="/ppt/slides/slide3.xml" Id="R95526b77839a4ac7" /><Relationship Type="http://schemas.openxmlformats.org/officeDocument/2006/relationships/slide" Target="/ppt/slides/slide4.xml" Id="R11f342e219b045aa" /><Relationship Type="http://schemas.openxmlformats.org/officeDocument/2006/relationships/slide" Target="/ppt/slides/slide5.xml" Id="R16bf3c4eb47f4857" /><Relationship Type="http://schemas.openxmlformats.org/officeDocument/2006/relationships/slide" Target="/ppt/slides/slide6.xml" Id="R0efb69c44ed3408c" /><Relationship Type="http://schemas.openxmlformats.org/officeDocument/2006/relationships/slide" Target="/ppt/slides/slide7.xml" Id="Rd9fd8c31a0b94113" /><Relationship Type="http://schemas.openxmlformats.org/officeDocument/2006/relationships/slide" Target="/ppt/slides/slide8.xml" Id="Rd17919ea46d845dc" /><Relationship Type="http://schemas.openxmlformats.org/officeDocument/2006/relationships/slide" Target="/ppt/slides/slide9.xml" Id="Rd50032dee67649b6" /><Relationship Type="http://schemas.openxmlformats.org/officeDocument/2006/relationships/slide" Target="/ppt/slides/slide10.xml" Id="Rdcc19b57892f49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ca9bec148e49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a455b767524bbe" /><Relationship Type="http://schemas.openxmlformats.org/officeDocument/2006/relationships/notesMaster" Target="/ppt/notesMasters/notesMaster1.xml" Id="R9c760efece7f48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6bd7aa6bb44832" /><Relationship Type="http://schemas.openxmlformats.org/officeDocument/2006/relationships/notesMaster" Target="/ppt/notesMasters/notesMaster1.xml" Id="Raee6aa1188434e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b63d4c031e4e07" /><Relationship Type="http://schemas.openxmlformats.org/officeDocument/2006/relationships/notesMaster" Target="/ppt/notesMasters/notesMaster1.xml" Id="R31acfe5525e24b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9fe10fb5b4439e" /><Relationship Type="http://schemas.openxmlformats.org/officeDocument/2006/relationships/notesMaster" Target="/ppt/notesMasters/notesMaster1.xml" Id="R80e4abaff5d146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6541b2505b4ed9" /><Relationship Type="http://schemas.openxmlformats.org/officeDocument/2006/relationships/notesMaster" Target="/ppt/notesMasters/notesMaster1.xml" Id="R9e786a2af31d40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aed558cae14d38" /><Relationship Type="http://schemas.openxmlformats.org/officeDocument/2006/relationships/notesMaster" Target="/ppt/notesMasters/notesMaster1.xml" Id="R493848c8d20f48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202dc16f694d15" /><Relationship Type="http://schemas.openxmlformats.org/officeDocument/2006/relationships/notesMaster" Target="/ppt/notesMasters/notesMaster1.xml" Id="R8d6cafea4e3748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10a91384694c48" /><Relationship Type="http://schemas.openxmlformats.org/officeDocument/2006/relationships/notesMaster" Target="/ppt/notesMasters/notesMaster1.xml" Id="Ra8954cf7a90d4a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799faff8574d0f" /><Relationship Type="http://schemas.openxmlformats.org/officeDocument/2006/relationships/notesMaster" Target="/ppt/notesMasters/notesMaster1.xml" Id="R7a4ae1edc0984c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9f48883d804cb7" /><Relationship Type="http://schemas.openxmlformats.org/officeDocument/2006/relationships/notesMaster" Target="/ppt/notesMasters/notesMaster1.xml" Id="Ra9aadfe0a2dc44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2b8321f874f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44501668684175" /><Relationship Type="http://schemas.openxmlformats.org/officeDocument/2006/relationships/slideLayout" Target="/ppt/slideLayouts/slideLayout1.xml" Id="Rf1f2db5192b742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f2db5192b742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28d65764c47bc" /><Relationship Type="http://schemas.openxmlformats.org/officeDocument/2006/relationships/notesSlide" Target="/ppt/notesSlides/notesSlide1.xml" Id="R0d4496ab741e4e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da49b617a44a5" /><Relationship Type="http://schemas.openxmlformats.org/officeDocument/2006/relationships/notesSlide" Target="/ppt/notesSlides/notesSlide2.xml" Id="R60c435fbfb8845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04686ee914fc8" /><Relationship Type="http://schemas.openxmlformats.org/officeDocument/2006/relationships/image" Target="/ppt/media/image.png" Id="R3820a182fa394474" /><Relationship Type="http://schemas.openxmlformats.org/officeDocument/2006/relationships/notesSlide" Target="/ppt/notesSlides/notesSlide3.xml" Id="Rbb97c7273fc94e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2e713ac6648d8" /><Relationship Type="http://schemas.openxmlformats.org/officeDocument/2006/relationships/notesSlide" Target="/ppt/notesSlides/notesSlide4.xml" Id="R607bf45154be45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f0f97f8d0474e" /><Relationship Type="http://schemas.openxmlformats.org/officeDocument/2006/relationships/notesSlide" Target="/ppt/notesSlides/notesSlide5.xml" Id="Rf3850df0052b43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339b7a8574d35" /><Relationship Type="http://schemas.openxmlformats.org/officeDocument/2006/relationships/chart" Target="/ppt/slides/charts/chart1.xml" Id="Refeed03065c446b2" /><Relationship Type="http://schemas.openxmlformats.org/officeDocument/2006/relationships/notesSlide" Target="/ppt/notesSlides/notesSlide6.xml" Id="R32c13ff18c7a4c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8332936874b37" /><Relationship Type="http://schemas.openxmlformats.org/officeDocument/2006/relationships/notesSlide" Target="/ppt/notesSlides/notesSlide7.xml" Id="R7debbd7069a448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314b83cc448ed" /><Relationship Type="http://schemas.openxmlformats.org/officeDocument/2006/relationships/notesSlide" Target="/ppt/notesSlides/notesSlide8.xml" Id="Rce906b2a0b8f44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a39da440f4c60" /><Relationship Type="http://schemas.openxmlformats.org/officeDocument/2006/relationships/notesSlide" Target="/ppt/notesSlides/notesSlide9.xml" Id="R43fe22ea596449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94be3b0ca4432" /><Relationship Type="http://schemas.openxmlformats.org/officeDocument/2006/relationships/notesSlide" Target="/ppt/notesSlides/notesSlide10.xml" Id="R2f3a955988a74b73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Expected-source overlap</c:v>
          </c:tx>
          <c:spPr>
            <a:ln xmlns:a="http://schemas.openxmlformats.org/drawingml/2006/main" w="38100">
              <a:solidFill>
                <a:srgbClr val="168C86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2"/>
              <c:pt idx="0">
                <c:v>Baseline</c:v>
              </c:pt>
              <c:pt idx="1">
                <c:v>Final</c:v>
              </c:pt>
            </c:strLit>
          </c:cat>
          <c:val>
            <c:numLit>
              <c:formatCode>General</c:formatCode>
              <c:ptCount val="2"/>
              <c:pt idx="0">
                <c:v>39.13</c:v>
              </c:pt>
              <c:pt idx="1">
                <c:v>69.57</c:v>
              </c:pt>
            </c:numLit>
          </c:val>
        </c:ser>
        <c:ser>
          <c:idx val="1"/>
          <c:order val="1"/>
          <c:tx>
            <c:v>Requested-domain coverage</c:v>
          </c:tx>
          <c:spPr>
            <a:ln xmlns:a="http://schemas.openxmlformats.org/drawingml/2006/main" w="38100">
              <a:solidFill>
                <a:srgbClr val="7FCBC4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2"/>
              <c:pt idx="0">
                <c:v>Baseline</c:v>
              </c:pt>
              <c:pt idx="1">
                <c:v>Final</c:v>
              </c:pt>
            </c:strLit>
          </c:cat>
          <c:val>
            <c:numLit>
              <c:formatCode>General</c:formatCode>
              <c:ptCount val="2"/>
              <c:pt idx="0">
                <c:v>36.84</c:v>
              </c:pt>
              <c:pt idx="1">
                <c:v>94.74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6C6420EE-1654-43A8-9D96-F140E795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Creative Coding
</a:t>
            </a: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Assistant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959E1C2-F5F3-45DA-8647-0235102B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reviewer-first workspace that turns creative intent into runnable, traceable, and refinable code artifacts.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80644B6-18E7-4905-8CD4-3A46AD45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TURING COLLEGE CAPSTONE · 2026</a:t>
            </a:r>
          </a:p>
        </p:txBody>
      </p:sp>
    </p:spTree>
    <p:extLst>
      <p:ext uri="{BB962C8B-B14F-4D97-AF65-F5344CB8AC3E}">
        <p14:creationId xmlns:p14="http://schemas.microsoft.com/office/powerpoint/2010/main" val="10963774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BBAA999-CFCC-4800-91A6-F00475E4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26BCF9E-C57E-49E0-BE12-528F78F9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Creative coding has a continuity problem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B6D46893-ABE7-495F-9371-B820E3B8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AAA995D-C6AE-4604-B781-30717381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Disconnected tools lose intent and state.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33E630F6-B711-4E3F-8FEF-909DCEE8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Idea ↔ editor ↔ browser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Manual context recovery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Opaque generation claims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C0A95A3A-68C0-469E-A131-78E9864C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3E169C2-61F2-4947-B939-F47BF78C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CCA keeps the brief, workflow, artifact, and evidence together.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0DC68FA-F9BB-4C28-8932-80852063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Runnable preview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Session refinement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Visible workflow evidence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D59D1D2-3376-434E-A546-E46A9613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THE GAP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Creative intent, code, runtime feedback, and iteration are usually split across tools.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Generic assistants return snippets; they do not preserve an inspectable product workflow.</a:t>
            </a:r>
          </a:p>
        </p:txBody>
      </p:sp>
    </p:spTree>
    <p:extLst>
      <p:ext uri="{BB962C8B-B14F-4D97-AF65-F5344CB8AC3E}">
        <p14:creationId xmlns:p14="http://schemas.microsoft.com/office/powerpoint/2010/main" val="3552464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3C45104-7B71-4A0D-BF8D-5C255F2F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F824645-3B52-45DA-B6CE-9383F183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traceable creative loop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FF4E3AA2-0BAA-4867-A37D-AABE8B3F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80C57AC9-1554-4CE3-A2F3-DC72B723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FROM BRIEF TO ARTIFACT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Describe the visual system, attach a reference when needed, choose Single, Multi, or Auto, then generate.
The workspace keeps preview, source, retrieval, workflow, telemetry, and refinement in the same session.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0a182fa394474"/>
          <a:stretch xmlns:a="http://schemas.openxmlformats.org/drawingml/2006/main"/>
        </p:blipFill>
        <p:spPr>
          <a:xfrm xmlns:a="http://schemas.openxmlformats.org/drawingml/2006/main">
            <a:off x="6345269" y="1311113"/>
            <a:ext cx="5387340" cy="3772668"/>
          </a:xfrm>
          <a:prstGeom xmlns:a="http://schemas.openxmlformats.org/drawingml/2006/main" prst="roundRect">
            <a:avLst>
              <a:gd name="adj" fmla="val 2122"/>
            </a:avLst>
          </a:prstGeom>
        </p:spPr>
      </p:pic>
    </p:spTree>
    <p:extLst>
      <p:ext uri="{BB962C8B-B14F-4D97-AF65-F5344CB8AC3E}">
        <p14:creationId xmlns:p14="http://schemas.microsoft.com/office/powerpoint/2010/main" val="18847827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01FBFEC-FF37-407B-AEE8-DD6026B8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460B4E2-BDD9-4858-B1C8-5768B160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 choice changes real execution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146048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9E52D48-C7E6-4DE6-99A3-0F154AC3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5F5D26F-83DD-4611-B8C9-0830959E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7199DB0-9CC1-4916-9AF2-2B710D8B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25B5672-216F-41BB-9F96-76BE16F4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ROUTE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A46673A-7C09-4874-90EE-434FE95D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EXECUTE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AF9A925-D673-4C85-AB9A-344D5FD6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FA22E73-27A7-4B92-904C-21A454F0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Distinct node paths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Single stays lean. Multi adds planner, researcher, critic, and reviewer stages.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91860BB-2AC5-490B-9EAD-DEC280B7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Single · Multi · Auto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 resolves from the request; the graph shows the chosen path, never a decorative diagram.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3CB43EF-5210-4D62-8786-2E0562CD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Bounded refinement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Critique can trigger one refinement before finalization and artifact delivery.</a:t>
            </a:r>
          </a:p>
        </p:txBody>
      </p:sp>
    </p:spTree>
    <p:extLst>
      <p:ext uri="{BB962C8B-B14F-4D97-AF65-F5344CB8AC3E}">
        <p14:creationId xmlns:p14="http://schemas.microsoft.com/office/powerpoint/2010/main" val="9095739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BE8E608-C132-4ECF-9C00-66C2FEAD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B0B6E1A-A111-4909-BAF3-FF433740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thin UI over an evidence-bearing AI pipeline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36D5A53A-BD8A-478A-BD14-B1316C55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PRODUCT SURFACE
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Next.js workstation, Dashboard, Inspector, preview runtimes, fullscreen, refinement, and export.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AD658CE1-5972-4DE9-A6FD-C0CAC18F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ORCHESTRATION
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Python WSGI API, LangGraph routing, memory, retrieval, generation, critique, and finalization.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DB393362-6E57-436F-A114-25648D0D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EVIDENCE LAYER
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SQLite sessions, local Chroma knowledge, sanitized fixtures, telemetry, and explicit fallback states.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79D29330-1F2E-4B50-96A6-440A9EFE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24B73988-3F1F-4226-93D1-DA309DB4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7068B391-5F20-49D9-94DE-7C286D0C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3148857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B66DF64-AE44-43E0-A912-8355BB36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EDFC3B9-4D06-4482-85F3-BBA9F96C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Hardest challenge: retrieval without moving the goalposts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1ABA31AD-B61F-46F8-BADB-C3CBCA31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D6E8B710-2B24-43BF-956C-D20A63E2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16/23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78815C68-FE25-40ED-B68D-AB43A873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Expected-source
overlap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5D19ED36-A0E8-4704-B6CF-500EB4CC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EB932C60-37F1-4DAE-BB95-896D30C4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18/19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34B0FC1-1C00-42F9-9029-806779B7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Requested-domain
coverage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C69860BB-8BA5-4616-A0C7-5A517571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fixed seven-query, top-five report measured substantive source overlap and requested-domain coverage. These are deterministic local coverage indicators—not RAGAS scores.</a:t>
            </a:r>
          </a:p>
        </p:txBody>
      </p:sp>
      <p:sp>
        <p:nvSpPr>
          <p:cNvPr id="10" name="retrieval-chart-clean-edge">
            <a:extLst xmlns:a="http://schemas.openxmlformats.org/drawingml/2006/main">
              <a:ext uri="{FF2B5EF4-FFF2-40B4-BE49-F238E27FC236}">
                <a16:creationId xmlns:a16="http://schemas.microsoft.com/office/drawing/2014/main" id="{B3D3C8CC-CF9B-43BB-8F60-2767412C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58" y="1104900"/>
            <a:ext cx="5534216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eed03065c446b2"/>
          </a:graphicData>
        </a:graphic>
      </p:graphicFrame>
    </p:spTree>
    <p:extLst>
      <p:ext uri="{BB962C8B-B14F-4D97-AF65-F5344CB8AC3E}">
        <p14:creationId xmlns:p14="http://schemas.microsoft.com/office/powerpoint/2010/main" val="937794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335D03DB-6CDB-4D98-BDF8-8448B95B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3D1389C-F860-4D69-8971-A3425769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E1AB56D3-A778-4AAC-809B-64DDE9B0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3285C208-9EDA-426B-A818-3ECDB660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F1BFA0E-AB80-4B6D-AAC6-DAE2B985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Validation is broad, local, and reproducible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29DE6B0-E0A7-430E-86A8-3501518A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Python tests
+ 423 subtests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6734A31-2F1C-466F-92D3-E8BEEF74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Full browser
smoke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68ABE029-629F-4411-8C49-1727862E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Approved fixture
4-row macro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97FE975A-A8A5-4085-897B-0CF9C465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2,688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35953C3A-738F-4F72-B12F-7156E2ED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61.44%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A5433AD-6E11-451D-A1DF-C89CC98F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28/28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FFD4BED-BAE0-4CA4-92E8-5D92FC6B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LOCAL RELEASE GATES + APPROVED FIXTURE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gates passed: 2,688 Python tests + 423 subtests, 553 UI tests, type, lint, build, and 28/28 browser checks. Approved 4-row fixture: precision 1.0000 · faithfulness 0.2958 · answer relevancy 0.4743 · context relevancy 0.6875. It is not current-product quality.</a:t>
            </a:r>
          </a:p>
        </p:txBody>
      </p:sp>
    </p:spTree>
    <p:extLst>
      <p:ext uri="{BB962C8B-B14F-4D97-AF65-F5344CB8AC3E}">
        <p14:creationId xmlns:p14="http://schemas.microsoft.com/office/powerpoint/2010/main" val="11129997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DD8FB3E-98E0-419E-995B-300D6728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A34B66A-6474-48D8-82B3-D7A6B6F5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Trust comes from explicit boundaries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EFD021B3-3783-4454-B80F-5F595DBB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Image attachment is explicit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309EA42-E935-4B4D-A7F8-E177C231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CONSENT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9BD438C7-592A-41F6-8383-F65E9C56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Pixels are request-scoped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5AC6C25-EA9E-4D6A-9227-8E14B283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RETENTION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9E2CC56F-C7FA-4069-85C1-B86D7AC6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sanitized fixtures ship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B0D808C0-9532-4B24-A851-87B13398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PUBLICATION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411395DE-F333-4682-AF66-92987117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Blocked evidence stays blocked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1F385065-D9DB-454C-9505-CAFFF650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FCF83FD2-0933-48E8-9D11-25B99046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ETHICS &amp; PRIVACY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Accepted image bytes enter the request payload and are excluded from session persistence; live provider use remains unproven.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Raw local sessions, secrets, and private retrieval stores stay outside public evidence.</a:t>
            </a:r>
          </a:p>
        </p:txBody>
      </p:sp>
    </p:spTree>
    <p:extLst>
      <p:ext uri="{BB962C8B-B14F-4D97-AF65-F5344CB8AC3E}">
        <p14:creationId xmlns:p14="http://schemas.microsoft.com/office/powerpoint/2010/main" val="9567741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6AD3F65-62A2-4F58-BD8B-553A95CD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8F0DCC9-3BD8-4F87-969E-0D658171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capstone demo is a tested product path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4251D12-1BD7-409C-AE0B-7970C9C5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 curated flows,
4 canonical browser-validated showcases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2167F3F-91DA-416E-B394-F6CF679F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 a curated flow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E7539109-24B1-499C-B6CA-B2354F3E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94FEDC45-9043-4F8B-9616-A030A234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Tone, p5.js, Three.js, and GLSL fixtures verify request contract, exact artifact, live runtime signal, fullscreen restore, refinement, and persistence.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They are deterministic local demo evidence—not provider-generation evidence.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653D8C9-75D5-4627-8E5D-F3F49EBF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Generate and inspect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0F25123B-18A6-475C-AC5C-07B6654E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3EAE708E-E0B7-4F27-AC64-4F1A586C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 live preview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84510220-DA67-43AD-BF24-1FBD4D42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04FBF540-1898-4CCC-A7FF-8A583934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Fullscreen and refine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EDBDA74B-78BB-42E2-B821-EE8DC2C1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6C3D3C8B-07FD-4F0F-958C-394F7809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Reload and verify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638EB27C-5680-41FB-BDD8-60D1B977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9455642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B6FA5655-F86B-47A5-A318-D99F7BCB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5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From creative brief
</a:t>
            </a: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 defensible artifact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C97A126-AE5F-4F2B-9999-6BD7DB5C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Image influence evidence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Parameter experiment dataset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Independent human acceptance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A7A4811-8F7E-4821-87EA-7D949193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89331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PowerPoint</ap:Application>
  <ap:PresentationFormat>On-screen Show (16:9)</ap:PresentationFormat>
  <ap:Slides>10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Creative Coding Assistant</dc:creator>
  <lastModifiedBy>Creative Coding Assistant</lastModifiedBy>
  <dc:title>Creative Coding Assistant — Capstone Presentation</dc:title>
  <dcterms:created xsi:type="dcterms:W3CDTF">2026-07-13T08:41:04.0550000Z</dcterms:created>
  <dcterms:modified xsi:type="dcterms:W3CDTF">2026-07-13T08:41:04.0550000Z</dcterms:modified>
</coreProperties>
</file>